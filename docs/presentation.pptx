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Nourd" charset="1" panose="00000500000000000000"/>
      <p:regular r:id="rId34"/>
    </p:embeddedFont>
    <p:embeddedFont>
      <p:font typeface="Luktao Bold" charset="1" panose="00000000000000000000"/>
      <p:regular r:id="rId35"/>
    </p:embeddedFont>
    <p:embeddedFont>
      <p:font typeface="Open Sans" charset="1" panose="020B0606030504020204"/>
      <p:regular r:id="rId36"/>
    </p:embeddedFont>
    <p:embeddedFont>
      <p:font typeface="Open Sans Bold" charset="1" panose="020B0806030504020204"/>
      <p:regular r:id="rId37"/>
    </p:embeddedFont>
    <p:embeddedFont>
      <p:font typeface="Nourd Bold" charset="1" panose="00000800000000000000"/>
      <p:regular r:id="rId38"/>
    </p:embeddedFont>
    <p:embeddedFont>
      <p:font typeface="Open Sans Bold Italics" charset="1" panose="020B0806030504020204"/>
      <p:regular r:id="rId39"/>
    </p:embeddedFont>
    <p:embeddedFont>
      <p:font typeface="Luktao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14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3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3252504" cy="3252504"/>
          </a:xfrm>
          <a:custGeom>
            <a:avLst/>
            <a:gdLst/>
            <a:ahLst/>
            <a:cxnLst/>
            <a:rect r="r" b="b" t="t" l="l"/>
            <a:pathLst>
              <a:path h="3252504" w="3252504">
                <a:moveTo>
                  <a:pt x="3252504" y="3252503"/>
                </a:moveTo>
                <a:lnTo>
                  <a:pt x="0" y="3252503"/>
                </a:lnTo>
                <a:lnTo>
                  <a:pt x="0" y="0"/>
                </a:lnTo>
                <a:lnTo>
                  <a:pt x="3252504" y="0"/>
                </a:lnTo>
                <a:lnTo>
                  <a:pt x="3252504" y="325250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30450" y="0"/>
            <a:ext cx="3257550" cy="929510"/>
          </a:xfrm>
          <a:custGeom>
            <a:avLst/>
            <a:gdLst/>
            <a:ahLst/>
            <a:cxnLst/>
            <a:rect r="r" b="b" t="t" l="l"/>
            <a:pathLst>
              <a:path h="929510" w="3257550">
                <a:moveTo>
                  <a:pt x="0" y="0"/>
                </a:moveTo>
                <a:lnTo>
                  <a:pt x="3257550" y="0"/>
                </a:lnTo>
                <a:lnTo>
                  <a:pt x="3257550" y="929510"/>
                </a:lnTo>
                <a:lnTo>
                  <a:pt x="0" y="929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9690100"/>
            <a:ext cx="806119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Jamelia KOMBILA et Maha BOUSLIMANI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7395" y="3054572"/>
            <a:ext cx="15373210" cy="2591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3"/>
              </a:lnSpc>
            </a:pPr>
            <a:r>
              <a:rPr lang="en-US" b="true" sz="7488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PRÉDICTION D’OBÉSITÉ À PARTIR DE DONNÉES MÉDICALES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10610" y="5607567"/>
            <a:ext cx="486677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PROJET DU 25/09/2025 AU 02/02/2026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50159" y="950379"/>
            <a:ext cx="9987683" cy="155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b="true" sz="912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0159" y="2502483"/>
            <a:ext cx="12138782" cy="740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 - Le jeu de donnée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1.1. La démarche de collecte et sélection de variables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1.2. Analyse univariée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1.3. Analyse bivariée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II - Méthodologie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III - Les trois modèles de prédiction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2.1. L’arbre de classification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2.2. La forêt aléatoire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2.3. XGBoost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IV - L’analyse comparative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3.1. Conclusion des modèles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      3.2. Choix final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30707" y="2739052"/>
            <a:ext cx="9708270" cy="1602487"/>
          </a:xfrm>
          <a:custGeom>
            <a:avLst/>
            <a:gdLst/>
            <a:ahLst/>
            <a:cxnLst/>
            <a:rect r="r" b="b" t="t" l="l"/>
            <a:pathLst>
              <a:path h="1602487" w="9708270">
                <a:moveTo>
                  <a:pt x="0" y="0"/>
                </a:moveTo>
                <a:lnTo>
                  <a:pt x="9708270" y="0"/>
                </a:lnTo>
                <a:lnTo>
                  <a:pt x="9708270" y="1602487"/>
                </a:lnTo>
                <a:lnTo>
                  <a:pt x="0" y="16024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9148" y="2739052"/>
            <a:ext cx="6342022" cy="5829866"/>
          </a:xfrm>
          <a:custGeom>
            <a:avLst/>
            <a:gdLst/>
            <a:ahLst/>
            <a:cxnLst/>
            <a:rect r="r" b="b" t="t" l="l"/>
            <a:pathLst>
              <a:path h="5829866" w="6342022">
                <a:moveTo>
                  <a:pt x="0" y="0"/>
                </a:moveTo>
                <a:lnTo>
                  <a:pt x="6342022" y="0"/>
                </a:lnTo>
                <a:lnTo>
                  <a:pt x="6342022" y="5829866"/>
                </a:lnTo>
                <a:lnTo>
                  <a:pt x="0" y="58298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0159" y="793794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b="true" sz="55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LA DÉMARCHE DE COLLECTE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4339" y="8876451"/>
            <a:ext cx="7711638" cy="756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1"/>
              </a:lnSpc>
              <a:spcBef>
                <a:spcPct val="0"/>
              </a:spcBef>
            </a:pPr>
            <a:r>
              <a:rPr lang="en-US" b="true" sz="1479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SOURCE : HTTPS://WWWN.CDC.GOV/NCHS/NHANES/CONTINUOUSNHANES/DEFAULT.ASPX?BEGINYEAR=2017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Quarter Circle Shape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Modern Geo Semicircle Line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6944" y="1995487"/>
            <a:ext cx="12753867" cy="2052166"/>
            <a:chOff x="0" y="0"/>
            <a:chExt cx="17005156" cy="27362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7005156" cy="1546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19"/>
                </a:lnSpc>
              </a:pPr>
              <a:r>
                <a:rPr lang="en-US" b="true" sz="7599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SELECTION DES VARIABLES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98046"/>
              <a:ext cx="17005156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0166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 Critères de sélection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50254" y="5186802"/>
            <a:ext cx="5251479" cy="1225245"/>
            <a:chOff x="0" y="0"/>
            <a:chExt cx="7001972" cy="163366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1221260" cy="1093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6"/>
                </a:lnSpc>
              </a:pPr>
              <a:r>
                <a:rPr lang="en-US" b="true" sz="5380">
                  <a:solidFill>
                    <a:srgbClr val="0166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0623" y="256558"/>
              <a:ext cx="5241349" cy="1377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8"/>
                </a:lnSpc>
              </a:pPr>
              <a:r>
                <a:rPr lang="en-US" b="true" sz="212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Facilité de mesure</a:t>
              </a:r>
              <a:r>
                <a:rPr lang="en-US" sz="2121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 : variables simples, accessibles en consultation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50254" y="7196439"/>
            <a:ext cx="5251479" cy="876749"/>
            <a:chOff x="0" y="0"/>
            <a:chExt cx="7001972" cy="116899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0"/>
              <a:ext cx="1221260" cy="1093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6"/>
                </a:lnSpc>
              </a:pPr>
              <a:r>
                <a:rPr lang="en-US" b="true" sz="5380">
                  <a:solidFill>
                    <a:srgbClr val="0166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60623" y="256558"/>
              <a:ext cx="5241349" cy="912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8"/>
                </a:lnSpc>
              </a:pPr>
              <a:r>
                <a:rPr lang="en-US" b="true" sz="212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Qualité des données</a:t>
              </a:r>
              <a:r>
                <a:rPr lang="en-US" sz="2121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 : trop de valeurs manquantes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12075" y="5186802"/>
            <a:ext cx="5251479" cy="876749"/>
            <a:chOff x="0" y="0"/>
            <a:chExt cx="7001972" cy="116899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1221260" cy="1093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6"/>
                </a:lnSpc>
              </a:pPr>
              <a:r>
                <a:rPr lang="en-US" b="true" sz="5380">
                  <a:solidFill>
                    <a:srgbClr val="0166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60623" y="256558"/>
              <a:ext cx="5241349" cy="912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8"/>
                </a:lnSpc>
              </a:pPr>
              <a:r>
                <a:rPr lang="en-US" b="true" sz="212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Pertinence scientifique </a:t>
              </a:r>
              <a:r>
                <a:rPr lang="en-US" sz="2121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: lien direct avec l'obésité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12075" y="7196439"/>
            <a:ext cx="5251479" cy="1573741"/>
            <a:chOff x="0" y="0"/>
            <a:chExt cx="7001972" cy="209832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1221260" cy="1093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6"/>
                </a:lnSpc>
              </a:pPr>
              <a:r>
                <a:rPr lang="en-US" b="true" sz="5380">
                  <a:solidFill>
                    <a:srgbClr val="0166C2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60623" y="256558"/>
              <a:ext cx="5241349" cy="184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8"/>
                </a:lnSpc>
              </a:pPr>
              <a:r>
                <a:rPr lang="en-US" b="true" sz="212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Diversité</a:t>
              </a:r>
              <a:r>
                <a:rPr lang="en-US" sz="2121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 : variables démographiques, nutritionnelles, comportementales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0">
            <a:off x="1606944" y="4329385"/>
            <a:ext cx="10961021" cy="0"/>
          </a:xfrm>
          <a:prstGeom prst="line">
            <a:avLst/>
          </a:prstGeom>
          <a:ln cap="flat" w="104775">
            <a:solidFill>
              <a:srgbClr val="0166C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5963554" y="7983309"/>
            <a:ext cx="2324446" cy="2324446"/>
          </a:xfrm>
          <a:custGeom>
            <a:avLst/>
            <a:gdLst/>
            <a:ahLst/>
            <a:cxnLst/>
            <a:rect r="r" b="b" t="t" l="l"/>
            <a:pathLst>
              <a:path h="2324446" w="2324446">
                <a:moveTo>
                  <a:pt x="0" y="0"/>
                </a:moveTo>
                <a:lnTo>
                  <a:pt x="2324446" y="0"/>
                </a:lnTo>
                <a:lnTo>
                  <a:pt x="2324446" y="2324447"/>
                </a:lnTo>
                <a:lnTo>
                  <a:pt x="0" y="2324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470962" y="9210675"/>
            <a:ext cx="218155" cy="47446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3944"/>
              </a:lnSpc>
              <a:spcBef>
                <a:spcPct val="0"/>
              </a:spcBef>
            </a:pPr>
            <a:r>
              <a:rPr lang="en-US" sz="2817" strike="noStrike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675248" y="7634813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2"/>
                </a:lnTo>
                <a:lnTo>
                  <a:pt x="0" y="21740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136586" y="0"/>
            <a:ext cx="6124566" cy="3195910"/>
          </a:xfrm>
          <a:custGeom>
            <a:avLst/>
            <a:gdLst/>
            <a:ahLst/>
            <a:cxnLst/>
            <a:rect r="r" b="b" t="t" l="l"/>
            <a:pathLst>
              <a:path h="3195910" w="6124566">
                <a:moveTo>
                  <a:pt x="0" y="0"/>
                </a:moveTo>
                <a:lnTo>
                  <a:pt x="6124566" y="0"/>
                </a:lnTo>
                <a:lnTo>
                  <a:pt x="6124566" y="3195910"/>
                </a:lnTo>
                <a:lnTo>
                  <a:pt x="0" y="31959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Quarter Circle Shape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Modern Geo Semicircle Line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83144" y="1597955"/>
            <a:ext cx="14549155" cy="2804641"/>
            <a:chOff x="0" y="0"/>
            <a:chExt cx="19398873" cy="37395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9398873" cy="254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559"/>
                </a:lnSpc>
              </a:pPr>
              <a:r>
                <a:rPr lang="en-US" b="true" sz="6299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 D</a:t>
              </a:r>
              <a:r>
                <a:rPr lang="en-US" b="true" sz="6299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ESCRIPTION DÉTAILLÉE DES DONNÉES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101346"/>
              <a:ext cx="17005156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963554" y="7983309"/>
            <a:ext cx="2324446" cy="2324446"/>
          </a:xfrm>
          <a:custGeom>
            <a:avLst/>
            <a:gdLst/>
            <a:ahLst/>
            <a:cxnLst/>
            <a:rect r="r" b="b" t="t" l="l"/>
            <a:pathLst>
              <a:path h="2324446" w="2324446">
                <a:moveTo>
                  <a:pt x="0" y="0"/>
                </a:moveTo>
                <a:lnTo>
                  <a:pt x="2324446" y="0"/>
                </a:lnTo>
                <a:lnTo>
                  <a:pt x="2324446" y="2324447"/>
                </a:lnTo>
                <a:lnTo>
                  <a:pt x="0" y="2324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28232" y="9303492"/>
            <a:ext cx="211418" cy="4788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3985"/>
              </a:lnSpc>
              <a:spcBef>
                <a:spcPct val="0"/>
              </a:spcBef>
            </a:pPr>
            <a:r>
              <a:rPr lang="en-US" sz="2846" strike="noStrike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698846" y="7488916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2" y="0"/>
                </a:lnTo>
                <a:lnTo>
                  <a:pt x="2174082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36586" y="0"/>
            <a:ext cx="6124566" cy="3195910"/>
          </a:xfrm>
          <a:custGeom>
            <a:avLst/>
            <a:gdLst/>
            <a:ahLst/>
            <a:cxnLst/>
            <a:rect r="r" b="b" t="t" l="l"/>
            <a:pathLst>
              <a:path h="3195910" w="6124566">
                <a:moveTo>
                  <a:pt x="0" y="0"/>
                </a:moveTo>
                <a:lnTo>
                  <a:pt x="6124566" y="0"/>
                </a:lnTo>
                <a:lnTo>
                  <a:pt x="6124566" y="3195910"/>
                </a:lnTo>
                <a:lnTo>
                  <a:pt x="0" y="31959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2" id="12"/>
          <p:cNvGraphicFramePr/>
          <p:nvPr/>
        </p:nvGraphicFramePr>
        <p:xfrm>
          <a:off x="1950174" y="3748546"/>
          <a:ext cx="5657850" cy="3771900"/>
        </p:xfrm>
        <a:graphic>
          <a:graphicData uri="http://schemas.openxmlformats.org/presentationml/2006/ole">
            <p:oleObj imgW="6781800" imgH="49022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1274461" y="3691396"/>
            <a:ext cx="6101576" cy="352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</a:p>
          <a:p>
            <a:pPr algn="l" marL="617694" indent="-308847" lvl="1">
              <a:lnSpc>
                <a:spcPts val="4005"/>
              </a:lnSpc>
              <a:buFont typeface="Arial"/>
              <a:buChar char="•"/>
            </a:pPr>
            <a:r>
              <a:rPr lang="en-US" b="true" sz="28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Population : 0-80 ans</a:t>
            </a:r>
          </a:p>
          <a:p>
            <a:pPr algn="l">
              <a:lnSpc>
                <a:spcPts val="4005"/>
              </a:lnSpc>
            </a:pPr>
          </a:p>
          <a:p>
            <a:pPr algn="l" marL="617694" indent="-308847" lvl="1">
              <a:lnSpc>
                <a:spcPts val="4005"/>
              </a:lnSpc>
              <a:buFont typeface="Arial"/>
              <a:buChar char="•"/>
            </a:pPr>
            <a:r>
              <a:rPr lang="en-US" b="true" sz="28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6970 individus </a:t>
            </a:r>
          </a:p>
          <a:p>
            <a:pPr algn="l">
              <a:lnSpc>
                <a:spcPts val="4005"/>
              </a:lnSpc>
            </a:pPr>
          </a:p>
          <a:p>
            <a:pPr algn="l" marL="617694" indent="-308847" lvl="1">
              <a:lnSpc>
                <a:spcPts val="4005"/>
              </a:lnSpc>
              <a:buFont typeface="Arial"/>
              <a:buChar char="•"/>
            </a:pPr>
            <a:r>
              <a:rPr lang="en-US" b="true" sz="286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 variables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14944" y="3264850"/>
            <a:ext cx="4495861" cy="4366979"/>
          </a:xfrm>
          <a:custGeom>
            <a:avLst/>
            <a:gdLst/>
            <a:ahLst/>
            <a:cxnLst/>
            <a:rect r="r" b="b" t="t" l="l"/>
            <a:pathLst>
              <a:path h="4366979" w="4495861">
                <a:moveTo>
                  <a:pt x="0" y="0"/>
                </a:moveTo>
                <a:lnTo>
                  <a:pt x="4495862" y="0"/>
                </a:lnTo>
                <a:lnTo>
                  <a:pt x="4495862" y="4366978"/>
                </a:lnTo>
                <a:lnTo>
                  <a:pt x="0" y="43669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05733" t="0" r="-92748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93273" y="3264850"/>
            <a:ext cx="4265378" cy="4366979"/>
          </a:xfrm>
          <a:custGeom>
            <a:avLst/>
            <a:gdLst/>
            <a:ahLst/>
            <a:cxnLst/>
            <a:rect r="r" b="b" t="t" l="l"/>
            <a:pathLst>
              <a:path h="4366979" w="4265378">
                <a:moveTo>
                  <a:pt x="0" y="0"/>
                </a:moveTo>
                <a:lnTo>
                  <a:pt x="4265378" y="0"/>
                </a:lnTo>
                <a:lnTo>
                  <a:pt x="4265378" y="4366978"/>
                </a:lnTo>
                <a:lnTo>
                  <a:pt x="0" y="43669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728" t="0" r="-728" b="-20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QUANTITATIVES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4944" y="7662308"/>
            <a:ext cx="449586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L’IMC     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3273" y="7483238"/>
            <a:ext cx="426537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L’âge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58277" y="2508989"/>
            <a:ext cx="5546279" cy="4941231"/>
          </a:xfrm>
          <a:custGeom>
            <a:avLst/>
            <a:gdLst/>
            <a:ahLst/>
            <a:cxnLst/>
            <a:rect r="r" b="b" t="t" l="l"/>
            <a:pathLst>
              <a:path h="4941231" w="5546279">
                <a:moveTo>
                  <a:pt x="0" y="0"/>
                </a:moveTo>
                <a:lnTo>
                  <a:pt x="5546279" y="0"/>
                </a:lnTo>
                <a:lnTo>
                  <a:pt x="5546279" y="4941231"/>
                </a:lnTo>
                <a:lnTo>
                  <a:pt x="0" y="494123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4698" y="3518956"/>
            <a:ext cx="10166755" cy="6382086"/>
          </a:xfrm>
          <a:custGeom>
            <a:avLst/>
            <a:gdLst/>
            <a:ahLst/>
            <a:cxnLst/>
            <a:rect r="r" b="b" t="t" l="l"/>
            <a:pathLst>
              <a:path h="6382086" w="10166755">
                <a:moveTo>
                  <a:pt x="0" y="0"/>
                </a:moveTo>
                <a:lnTo>
                  <a:pt x="10166754" y="0"/>
                </a:lnTo>
                <a:lnTo>
                  <a:pt x="10166754" y="6382086"/>
                </a:lnTo>
                <a:lnTo>
                  <a:pt x="0" y="638208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421" r="0" b="-42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QUANTITATIVES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21159" y="7412120"/>
            <a:ext cx="28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L’apport en énergie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50159" y="2707426"/>
            <a:ext cx="80303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L’APPORT EN ÉNERGIE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89331" y="3022704"/>
            <a:ext cx="5369969" cy="4402407"/>
          </a:xfrm>
          <a:custGeom>
            <a:avLst/>
            <a:gdLst/>
            <a:ahLst/>
            <a:cxnLst/>
            <a:rect r="r" b="b" t="t" l="l"/>
            <a:pathLst>
              <a:path h="4402407" w="5369969">
                <a:moveTo>
                  <a:pt x="0" y="0"/>
                </a:moveTo>
                <a:lnTo>
                  <a:pt x="5369969" y="0"/>
                </a:lnTo>
                <a:lnTo>
                  <a:pt x="5369969" y="4402407"/>
                </a:lnTo>
                <a:lnTo>
                  <a:pt x="0" y="44024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518956"/>
            <a:ext cx="9690630" cy="6134436"/>
          </a:xfrm>
          <a:custGeom>
            <a:avLst/>
            <a:gdLst/>
            <a:ahLst/>
            <a:cxnLst/>
            <a:rect r="r" b="b" t="t" l="l"/>
            <a:pathLst>
              <a:path h="6134436" w="9690630">
                <a:moveTo>
                  <a:pt x="0" y="0"/>
                </a:moveTo>
                <a:lnTo>
                  <a:pt x="9690630" y="0"/>
                </a:lnTo>
                <a:lnTo>
                  <a:pt x="9690630" y="6134436"/>
                </a:lnTo>
                <a:lnTo>
                  <a:pt x="0" y="61344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QUANTITATIVES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64058" y="7387011"/>
            <a:ext cx="28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L’apport en calcium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50159" y="2707426"/>
            <a:ext cx="80303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L’APPORT EN CALCIUM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7657" y="3518956"/>
            <a:ext cx="9660537" cy="6115386"/>
          </a:xfrm>
          <a:custGeom>
            <a:avLst/>
            <a:gdLst/>
            <a:ahLst/>
            <a:cxnLst/>
            <a:rect r="r" b="b" t="t" l="l"/>
            <a:pathLst>
              <a:path h="6115386" w="9660537">
                <a:moveTo>
                  <a:pt x="0" y="0"/>
                </a:moveTo>
                <a:lnTo>
                  <a:pt x="9660536" y="0"/>
                </a:lnTo>
                <a:lnTo>
                  <a:pt x="9660536" y="6115386"/>
                </a:lnTo>
                <a:lnTo>
                  <a:pt x="0" y="6115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1325962" y="1731138"/>
          <a:ext cx="6345816" cy="5842174"/>
        </p:xfrm>
        <a:graphic>
          <a:graphicData uri="http://schemas.openxmlformats.org/drawingml/2006/table">
            <a:tbl>
              <a:tblPr/>
              <a:tblGrid>
                <a:gridCol w="2182964"/>
                <a:gridCol w="1885381"/>
                <a:gridCol w="2277470"/>
              </a:tblGrid>
              <a:tr h="11931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Modalité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Effectif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Signification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4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(jamais)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1 644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Valeurs égales à 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79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 (occasionnel à fréquent)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4 861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Valeurs de 1 à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2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 (très fréquent)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Valeurs supérieures ou égales à 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QUANTITATIVES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0159" y="2707426"/>
            <a:ext cx="80303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 NOMBRE DE REPAS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90897" y="2774101"/>
            <a:ext cx="4366836" cy="3910861"/>
          </a:xfrm>
          <a:custGeom>
            <a:avLst/>
            <a:gdLst/>
            <a:ahLst/>
            <a:cxnLst/>
            <a:rect r="r" b="b" t="t" l="l"/>
            <a:pathLst>
              <a:path h="3910861" w="4366836">
                <a:moveTo>
                  <a:pt x="0" y="0"/>
                </a:moveTo>
                <a:lnTo>
                  <a:pt x="4366836" y="0"/>
                </a:lnTo>
                <a:lnTo>
                  <a:pt x="4366836" y="3910862"/>
                </a:lnTo>
                <a:lnTo>
                  <a:pt x="0" y="39108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6396" y="3495089"/>
            <a:ext cx="10078152" cy="6379747"/>
          </a:xfrm>
          <a:custGeom>
            <a:avLst/>
            <a:gdLst/>
            <a:ahLst/>
            <a:cxnLst/>
            <a:rect r="r" b="b" t="t" l="l"/>
            <a:pathLst>
              <a:path h="6379747" w="10078152">
                <a:moveTo>
                  <a:pt x="0" y="0"/>
                </a:moveTo>
                <a:lnTo>
                  <a:pt x="10078151" y="0"/>
                </a:lnTo>
                <a:lnTo>
                  <a:pt x="10078151" y="6379747"/>
                </a:lnTo>
                <a:lnTo>
                  <a:pt x="0" y="63797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QUALITATIVES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64058" y="6646863"/>
            <a:ext cx="282051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genre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50159" y="2707426"/>
            <a:ext cx="80303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 GENRE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518956"/>
            <a:ext cx="9903609" cy="6269257"/>
          </a:xfrm>
          <a:custGeom>
            <a:avLst/>
            <a:gdLst/>
            <a:ahLst/>
            <a:cxnLst/>
            <a:rect r="r" b="b" t="t" l="l"/>
            <a:pathLst>
              <a:path h="6269257" w="9903609">
                <a:moveTo>
                  <a:pt x="0" y="0"/>
                </a:moveTo>
                <a:lnTo>
                  <a:pt x="9903609" y="0"/>
                </a:lnTo>
                <a:lnTo>
                  <a:pt x="9903609" y="6269258"/>
                </a:lnTo>
                <a:lnTo>
                  <a:pt x="0" y="6269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25962" y="3022704"/>
            <a:ext cx="6606447" cy="3369142"/>
          </a:xfrm>
          <a:custGeom>
            <a:avLst/>
            <a:gdLst/>
            <a:ahLst/>
            <a:cxnLst/>
            <a:rect r="r" b="b" t="t" l="l"/>
            <a:pathLst>
              <a:path h="3369142" w="6606447">
                <a:moveTo>
                  <a:pt x="0" y="0"/>
                </a:moveTo>
                <a:lnTo>
                  <a:pt x="6606447" y="0"/>
                </a:lnTo>
                <a:lnTo>
                  <a:pt x="6606447" y="3369142"/>
                </a:lnTo>
                <a:lnTo>
                  <a:pt x="0" y="336914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QUALITATIVES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0159" y="2707426"/>
            <a:ext cx="803031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CONSEIL D’UN MEDECIN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700" y="3021751"/>
            <a:ext cx="18300700" cy="5117018"/>
            <a:chOff x="0" y="0"/>
            <a:chExt cx="4819937" cy="13476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9938" cy="1347692"/>
            </a:xfrm>
            <a:custGeom>
              <a:avLst/>
              <a:gdLst/>
              <a:ahLst/>
              <a:cxnLst/>
              <a:rect r="r" b="b" t="t" l="l"/>
              <a:pathLst>
                <a:path h="1347692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347692"/>
                  </a:lnTo>
                  <a:lnTo>
                    <a:pt x="0" y="1347692"/>
                  </a:lnTo>
                  <a:close/>
                </a:path>
              </a:pathLst>
            </a:custGeom>
            <a:solidFill>
              <a:srgbClr val="88C2E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9937" cy="1404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UNIVARIÉE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95650" y="2186726"/>
            <a:ext cx="11906250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VARIABLES QUALITATIVES ET QUANTITATIVES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48248" y="3255189"/>
            <a:ext cx="12382202" cy="551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910" indent="-372455" lvl="1">
              <a:lnSpc>
                <a:spcPts val="5485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Pour l’IMC : valeurs manquantes supprimées</a:t>
            </a:r>
          </a:p>
          <a:p>
            <a:pPr algn="l" marL="744910" indent="-372455" lvl="1">
              <a:lnSpc>
                <a:spcPts val="5485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Les vitamines : variables qualitatives ( 0 pour une carence et 1 pour une suffisance)</a:t>
            </a:r>
          </a:p>
          <a:p>
            <a:pPr algn="l" marL="744910" indent="-372455" lvl="1">
              <a:lnSpc>
                <a:spcPts val="5485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Consommation d’alcool : variable qualitative ( 0 pour non et 1 pour oui)</a:t>
            </a:r>
          </a:p>
          <a:p>
            <a:pPr algn="l" marL="744910" indent="-372455" lvl="1">
              <a:lnSpc>
                <a:spcPts val="5485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Pour les autres variables : méthode d’imputation multiple    </a:t>
            </a:r>
          </a:p>
          <a:p>
            <a:pPr algn="l">
              <a:lnSpc>
                <a:spcPts val="548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7041" y="0"/>
            <a:ext cx="9430959" cy="10287000"/>
            <a:chOff x="0" y="0"/>
            <a:chExt cx="2483874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387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83874">
                  <a:moveTo>
                    <a:pt x="0" y="0"/>
                  </a:moveTo>
                  <a:lnTo>
                    <a:pt x="2483874" y="0"/>
                  </a:lnTo>
                  <a:lnTo>
                    <a:pt x="24838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ED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483874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84300" y="2417761"/>
            <a:ext cx="5122944" cy="230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25"/>
              </a:lnSpc>
            </a:pPr>
            <a:r>
              <a:rPr lang="en-US" b="true" sz="85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BIVARIÉE</a:t>
            </a:r>
          </a:p>
        </p:txBody>
      </p:sp>
      <p:sp>
        <p:nvSpPr>
          <p:cNvPr name="AutoShape 6" id="6"/>
          <p:cNvSpPr/>
          <p:nvPr/>
        </p:nvSpPr>
        <p:spPr>
          <a:xfrm>
            <a:off x="1384300" y="4799823"/>
            <a:ext cx="5122944" cy="0"/>
          </a:xfrm>
          <a:prstGeom prst="line">
            <a:avLst/>
          </a:prstGeom>
          <a:ln cap="flat" w="38100">
            <a:solidFill>
              <a:srgbClr val="0166C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631041" y="2786938"/>
            <a:ext cx="6390664" cy="5243009"/>
            <a:chOff x="0" y="0"/>
            <a:chExt cx="4170733" cy="34217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70733" cy="3421740"/>
            </a:xfrm>
            <a:custGeom>
              <a:avLst/>
              <a:gdLst/>
              <a:ahLst/>
              <a:cxnLst/>
              <a:rect r="r" b="b" t="t" l="l"/>
              <a:pathLst>
                <a:path h="3421740" w="4170733">
                  <a:moveTo>
                    <a:pt x="0" y="0"/>
                  </a:moveTo>
                  <a:lnTo>
                    <a:pt x="4170733" y="0"/>
                  </a:lnTo>
                  <a:lnTo>
                    <a:pt x="4170733" y="3421740"/>
                  </a:lnTo>
                  <a:lnTo>
                    <a:pt x="0" y="3421740"/>
                  </a:lnTo>
                  <a:close/>
                </a:path>
              </a:pathLst>
            </a:custGeom>
            <a:solidFill>
              <a:srgbClr val="F8FC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4170733" cy="3440790"/>
            </a:xfrm>
            <a:prstGeom prst="rect">
              <a:avLst/>
            </a:prstGeom>
          </p:spPr>
          <p:txBody>
            <a:bodyPr anchor="ctr" rtlCol="false" tIns="30751" lIns="30751" bIns="30751" rIns="30751"/>
            <a:lstStyle/>
            <a:p>
              <a:pPr algn="ctr">
                <a:lnSpc>
                  <a:spcPts val="135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631041" y="2728847"/>
            <a:ext cx="6390664" cy="425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42"/>
              </a:lnSpc>
            </a:pPr>
            <a:r>
              <a:rPr lang="en-US" sz="2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</a:t>
            </a:r>
          </a:p>
          <a:p>
            <a:pPr algn="just" marL="572295" indent="-286147" lvl="1">
              <a:lnSpc>
                <a:spcPts val="5778"/>
              </a:lnSpc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Relation entre v</a:t>
            </a:r>
            <a:r>
              <a:rPr lang="en-US" sz="26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ariables quantitatives </a:t>
            </a:r>
          </a:p>
          <a:p>
            <a:pPr algn="just" marL="572295" indent="-286147" lvl="1">
              <a:lnSpc>
                <a:spcPts val="5778"/>
              </a:lnSpc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Relation entre v</a:t>
            </a:r>
            <a:r>
              <a:rPr lang="en-US" sz="26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ariables qualitatives</a:t>
            </a:r>
          </a:p>
          <a:p>
            <a:pPr algn="just" marL="572295" indent="-286147" lvl="1">
              <a:lnSpc>
                <a:spcPts val="5778"/>
              </a:lnSpc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Relation entre variables quantitatives et qualitatives </a:t>
            </a:r>
          </a:p>
          <a:p>
            <a:pPr algn="just" marL="572295" indent="-286147" lvl="1">
              <a:lnSpc>
                <a:spcPts val="5778"/>
              </a:lnSpc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Relation entre variables et  l’obésité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4300" y="5105400"/>
            <a:ext cx="512294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OBJECTIF : COMPRENDRE LES RELATIONS ENTRE VARIABLES</a:t>
            </a:r>
          </a:p>
        </p:txBody>
      </p:sp>
      <p:sp>
        <p:nvSpPr>
          <p:cNvPr name="Freeform 12" id="12" descr="Quarter Arc"/>
          <p:cNvSpPr/>
          <p:nvPr/>
        </p:nvSpPr>
        <p:spPr>
          <a:xfrm flipH="false" flipV="false" rot="0">
            <a:off x="15201900" y="6942907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511152" y="9220309"/>
            <a:ext cx="356259" cy="410829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433"/>
              </a:lnSpc>
              <a:spcBef>
                <a:spcPct val="0"/>
              </a:spcBef>
            </a:pPr>
            <a:r>
              <a:rPr lang="en-US" sz="245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-819150" y="-1605811"/>
            <a:ext cx="3899747" cy="3899747"/>
          </a:xfrm>
          <a:custGeom>
            <a:avLst/>
            <a:gdLst/>
            <a:ahLst/>
            <a:cxnLst/>
            <a:rect r="r" b="b" t="t" l="l"/>
            <a:pathLst>
              <a:path h="3899747" w="3899747">
                <a:moveTo>
                  <a:pt x="3899747" y="3899747"/>
                </a:moveTo>
                <a:lnTo>
                  <a:pt x="0" y="3899747"/>
                </a:lnTo>
                <a:lnTo>
                  <a:pt x="0" y="0"/>
                </a:lnTo>
                <a:lnTo>
                  <a:pt x="3899747" y="0"/>
                </a:lnTo>
                <a:lnTo>
                  <a:pt x="3899747" y="389974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 descr="Modern Geo Semicircle Line"/>
          <p:cNvSpPr/>
          <p:nvPr/>
        </p:nvSpPr>
        <p:spPr>
          <a:xfrm flipH="false" flipV="false" rot="0">
            <a:off x="371475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67280" y="1042353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BIVARIÉE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36837" y="4059259"/>
            <a:ext cx="6387226" cy="108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3145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RELATION ENTRE VARIABLES QUANTITATIVES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3836" y="1607575"/>
            <a:ext cx="13160494" cy="85827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81581" y="1903466"/>
            <a:ext cx="13323377" cy="8465116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836837" y="4268121"/>
            <a:ext cx="6387226" cy="108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3145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RELATION ENTRE VARIABLES QUALITATIVES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67280" y="1042353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BIVARIÉE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804608" y="4355144"/>
            <a:ext cx="6290515" cy="167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b="true" sz="3197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RELATION ENTRE VARIABLES QUANTITATIVES ET QUALITATIVES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700" y="2099295"/>
            <a:ext cx="12216005" cy="828641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267280" y="1042353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BIVARIÉE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1997465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379962" y="5034579"/>
          <a:ext cx="11650488" cy="3607046"/>
        </p:xfrm>
        <a:graphic>
          <a:graphicData uri="http://schemas.openxmlformats.org/drawingml/2006/table">
            <a:tbl>
              <a:tblPr/>
              <a:tblGrid>
                <a:gridCol w="5553839"/>
                <a:gridCol w="6096649"/>
              </a:tblGrid>
              <a:tr h="1262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VARIABLES QUANTITATIVES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VARIABLES QUALITATIVES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11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Âge : 0,08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CONSEIL  EXERCICE : 0,35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29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Autres : &lt; 0,01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(faibles)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Autres : &lt; 0,07</a:t>
                      </a: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(faibles) 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BIVARIÉE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3789" y="1911007"/>
            <a:ext cx="1041405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RELATIONS ENTRE LES VARIABLES ET L’OBÉSITÉ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21620" y="2968167"/>
            <a:ext cx="8319473" cy="1177681"/>
            <a:chOff x="0" y="0"/>
            <a:chExt cx="11092631" cy="157024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95808" y="374487"/>
              <a:ext cx="10896823" cy="764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 b="true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MEILLEURS PRÉDICTEURS IDENTIFIÉS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1092631" cy="1570241"/>
              <a:chOff x="0" y="0"/>
              <a:chExt cx="4665254" cy="660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665254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4665254">
                    <a:moveTo>
                      <a:pt x="4540794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540794" y="0"/>
                    </a:lnTo>
                    <a:cubicBezTo>
                      <a:pt x="4609374" y="0"/>
                      <a:pt x="4665254" y="55880"/>
                      <a:pt x="4665254" y="124460"/>
                    </a:cubicBezTo>
                    <a:lnTo>
                      <a:pt x="4665254" y="535940"/>
                    </a:lnTo>
                    <a:cubicBezTo>
                      <a:pt x="4665254" y="604520"/>
                      <a:pt x="4609374" y="660400"/>
                      <a:pt x="4540794" y="660400"/>
                    </a:cubicBezTo>
                    <a:close/>
                  </a:path>
                </a:pathLst>
              </a:custGeom>
              <a:solidFill>
                <a:srgbClr val="0166C2">
                  <a:alpha val="9804"/>
                </a:srgbClr>
              </a:solidFill>
            </p:spPr>
          </p:sp>
        </p:grp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38683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50159" y="793794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MÉTHODOLOGIE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0813" y="2505048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L’ARBRE DE CLASSIFICATION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68583" y="3127699"/>
            <a:ext cx="9695781" cy="119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Modèle de base : partitionnement des données → Risque de surapprentissage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30813" y="4821237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FORÊT ALÉATOIRE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8583" y="5490900"/>
            <a:ext cx="9695781" cy="119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Combine plusieurs arbres de décision  </a:t>
            </a:r>
          </a:p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→ Vote majoritaire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30813" y="7179811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XGBOOST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68583" y="7956657"/>
            <a:ext cx="10596913" cy="119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Arbres séquentiels corrigeant les erreurs </a:t>
            </a:r>
          </a:p>
          <a:p>
            <a:pPr algn="l">
              <a:lnSpc>
                <a:spcPts val="4830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→ Optimisation progressive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MODÈLES PRÉDICTIVES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L’ARBRE DE CLASSIFICATION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1915" y="3278926"/>
            <a:ext cx="12875320" cy="578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910" indent="-372455" lvl="1">
              <a:lnSpc>
                <a:spcPts val="6658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69% de non obèses contre 31% d’obèses</a:t>
            </a:r>
          </a:p>
          <a:p>
            <a:pPr algn="l" marL="744910" indent="-372455" lvl="1">
              <a:lnSpc>
                <a:spcPts val="6658"/>
              </a:lnSpc>
              <a:buFont typeface="Arial"/>
              <a:buChar char="•"/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Les hyperparamètres : </a:t>
            </a:r>
          </a:p>
          <a:p>
            <a:pPr algn="l">
              <a:lnSpc>
                <a:spcPts val="6658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Seuil de gain minimal de 0.0005</a:t>
            </a:r>
          </a:p>
          <a:p>
            <a:pPr algn="l">
              <a:lnSpc>
                <a:spcPts val="6658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Une division nécessitant au moins 10 observations</a:t>
            </a:r>
          </a:p>
          <a:p>
            <a:pPr algn="l">
              <a:lnSpc>
                <a:spcPts val="6658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Une profondeur maximale de 3</a:t>
            </a:r>
          </a:p>
          <a:p>
            <a:pPr algn="l">
              <a:lnSpc>
                <a:spcPts val="6658"/>
              </a:lnSpc>
            </a:pPr>
            <a:r>
              <a:rPr lang="en-US" sz="34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Des nœuds terminaux avec au moins 3 observations      </a:t>
            </a:r>
          </a:p>
          <a:p>
            <a:pPr algn="l">
              <a:lnSpc>
                <a:spcPts val="6658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9169" y="3536096"/>
            <a:ext cx="10790400" cy="3546845"/>
          </a:xfrm>
          <a:custGeom>
            <a:avLst/>
            <a:gdLst/>
            <a:ahLst/>
            <a:cxnLst/>
            <a:rect r="r" b="b" t="t" l="l"/>
            <a:pathLst>
              <a:path h="3546845" w="10790400">
                <a:moveTo>
                  <a:pt x="0" y="0"/>
                </a:moveTo>
                <a:lnTo>
                  <a:pt x="10790401" y="0"/>
                </a:lnTo>
                <a:lnTo>
                  <a:pt x="10790401" y="3546844"/>
                </a:lnTo>
                <a:lnTo>
                  <a:pt x="0" y="35468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MODÈLES PRÉDICTIVES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L’ARBRE DE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6784639" y="5290468"/>
            <a:ext cx="1578193" cy="0"/>
          </a:xfrm>
          <a:prstGeom prst="line">
            <a:avLst/>
          </a:prstGeom>
          <a:ln cap="flat" w="3810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8791364" y="5832029"/>
            <a:ext cx="1578193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784639" y="5309518"/>
            <a:ext cx="0" cy="560611"/>
          </a:xfrm>
          <a:prstGeom prst="line">
            <a:avLst/>
          </a:prstGeom>
          <a:ln cap="flat" w="3810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0369557" y="5143500"/>
            <a:ext cx="0" cy="707579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 flipV="true">
            <a:off x="8810414" y="5162550"/>
            <a:ext cx="1578193" cy="0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6784639" y="5870129"/>
            <a:ext cx="1578193" cy="0"/>
          </a:xfrm>
          <a:prstGeom prst="line">
            <a:avLst/>
          </a:prstGeom>
          <a:ln cap="flat" w="3810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8791364" y="5162550"/>
            <a:ext cx="19050" cy="669479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8343782" y="5309518"/>
            <a:ext cx="0" cy="560611"/>
          </a:xfrm>
          <a:prstGeom prst="line">
            <a:avLst/>
          </a:prstGeom>
          <a:ln cap="flat" w="38100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8791364" y="6449790"/>
            <a:ext cx="1578193" cy="0"/>
          </a:xfrm>
          <a:prstGeom prst="line">
            <a:avLst/>
          </a:prstGeom>
          <a:ln cap="flat" w="3810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8810414" y="5889179"/>
            <a:ext cx="1578193" cy="0"/>
          </a:xfrm>
          <a:prstGeom prst="line">
            <a:avLst/>
          </a:prstGeom>
          <a:ln cap="flat" w="3810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 flipV="true">
            <a:off x="8791364" y="5889179"/>
            <a:ext cx="19050" cy="560611"/>
          </a:xfrm>
          <a:prstGeom prst="line">
            <a:avLst/>
          </a:prstGeom>
          <a:ln cap="flat" w="3810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10331468" y="5927926"/>
            <a:ext cx="19050" cy="560611"/>
          </a:xfrm>
          <a:prstGeom prst="line">
            <a:avLst/>
          </a:prstGeom>
          <a:ln cap="flat" w="3810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2054173" y="7540140"/>
            <a:ext cx="708982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8C52FF"/>
                </a:solidFill>
                <a:latin typeface="Open Sans"/>
                <a:ea typeface="Open Sans"/>
                <a:cs typeface="Open Sans"/>
                <a:sym typeface="Open Sans"/>
              </a:rPr>
              <a:t>803 individus non obèses correctement identifiés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800AD"/>
                </a:solidFill>
                <a:latin typeface="Open Sans"/>
                <a:ea typeface="Open Sans"/>
                <a:cs typeface="Open Sans"/>
                <a:sym typeface="Open Sans"/>
              </a:rPr>
              <a:t>258 individus obèses correctement détectés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193 individus obèses non détectés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19570" y="4219223"/>
            <a:ext cx="5500537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43% des obèses ne sont pas détectés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19570" y="3488471"/>
            <a:ext cx="5500537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Sensibilité =&gt; 57.2%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58763" y="5509543"/>
            <a:ext cx="5500537" cy="16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Variables importantes du modèle : l’âge et le conseil d’un médecin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3021751"/>
            <a:ext cx="9718910" cy="6188314"/>
          </a:xfrm>
          <a:custGeom>
            <a:avLst/>
            <a:gdLst/>
            <a:ahLst/>
            <a:cxnLst/>
            <a:rect r="r" b="b" t="t" l="l"/>
            <a:pathLst>
              <a:path h="6188314" w="9718910">
                <a:moveTo>
                  <a:pt x="0" y="0"/>
                </a:moveTo>
                <a:lnTo>
                  <a:pt x="9718910" y="0"/>
                </a:lnTo>
                <a:lnTo>
                  <a:pt x="9718910" y="6188315"/>
                </a:lnTo>
                <a:lnTo>
                  <a:pt x="0" y="61883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MODÈLES PRÉDICTIVES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L’ARBRE DE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58763" y="3894565"/>
            <a:ext cx="5500537" cy="333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AUC-ROC de l’apprentissage : 0.761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AUC-ROC de validation : 0.777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Accuracy de 76.2%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AUC-PRC de 0.584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44604" y="3517051"/>
            <a:ext cx="7443396" cy="5119729"/>
          </a:xfrm>
          <a:custGeom>
            <a:avLst/>
            <a:gdLst/>
            <a:ahLst/>
            <a:cxnLst/>
            <a:rect r="r" b="b" t="t" l="l"/>
            <a:pathLst>
              <a:path h="5119729" w="7443396">
                <a:moveTo>
                  <a:pt x="0" y="0"/>
                </a:moveTo>
                <a:lnTo>
                  <a:pt x="7443396" y="0"/>
                </a:lnTo>
                <a:lnTo>
                  <a:pt x="7443396" y="5119729"/>
                </a:lnTo>
                <a:lnTo>
                  <a:pt x="0" y="51197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MODÈLES PRÉDICTIVES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FORÊTS ALÉATOIRES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475" y="2734586"/>
            <a:ext cx="10068114" cy="564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3185" indent="-346592" lvl="1">
              <a:lnSpc>
                <a:spcPts val="6453"/>
              </a:lnSpc>
              <a:buFont typeface="Arial"/>
              <a:buChar char="•"/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Les hyperparamètres :</a:t>
            </a:r>
          </a:p>
          <a:p>
            <a:pPr algn="l">
              <a:lnSpc>
                <a:spcPts val="6453"/>
              </a:lnSpc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- 800 arbres</a:t>
            </a:r>
          </a:p>
          <a:p>
            <a:pPr algn="l">
              <a:lnSpc>
                <a:spcPts val="6453"/>
              </a:lnSpc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Test de 9 variables à chaque division</a:t>
            </a:r>
          </a:p>
          <a:p>
            <a:pPr algn="l">
              <a:lnSpc>
                <a:spcPts val="6453"/>
              </a:lnSpc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Une complexité limitée à 30</a:t>
            </a:r>
          </a:p>
          <a:p>
            <a:pPr algn="l">
              <a:lnSpc>
                <a:spcPts val="6453"/>
              </a:lnSpc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Des nœuds de taille 15</a:t>
            </a:r>
          </a:p>
          <a:p>
            <a:pPr algn="l">
              <a:lnSpc>
                <a:spcPts val="6453"/>
              </a:lnSpc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         - Un poids double pour la classe minoritaire</a:t>
            </a:r>
          </a:p>
          <a:p>
            <a:pPr algn="l">
              <a:lnSpc>
                <a:spcPts val="6453"/>
              </a:lnSpc>
            </a:pPr>
            <a:r>
              <a:rPr lang="en-US" sz="321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4621" y="7590823"/>
            <a:ext cx="3362079" cy="3362079"/>
          </a:xfrm>
          <a:custGeom>
            <a:avLst/>
            <a:gdLst/>
            <a:ahLst/>
            <a:cxnLst/>
            <a:rect r="r" b="b" t="t" l="l"/>
            <a:pathLst>
              <a:path h="3362079" w="3362079">
                <a:moveTo>
                  <a:pt x="0" y="0"/>
                </a:moveTo>
                <a:lnTo>
                  <a:pt x="3362079" y="0"/>
                </a:lnTo>
                <a:lnTo>
                  <a:pt x="3362079" y="3362078"/>
                </a:lnTo>
                <a:lnTo>
                  <a:pt x="0" y="3362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MODÈLES PRÉDICTIVES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65758" y="1673225"/>
            <a:ext cx="588084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FORÊTS ALÉATOIRES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82390" y="2990157"/>
            <a:ext cx="5169464" cy="4842342"/>
            <a:chOff x="0" y="0"/>
            <a:chExt cx="6892619" cy="645645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367046" y="4921045"/>
              <a:ext cx="6345880" cy="786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24"/>
                </a:lnSpc>
              </a:pPr>
              <a:r>
                <a:rPr lang="en-US" b="true" sz="3588" i="true">
                  <a:solidFill>
                    <a:srgbClr val="0166C2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Matrice de confusion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2548453" y="2445236"/>
              <a:ext cx="1475782" cy="782992"/>
              <a:chOff x="0" y="0"/>
              <a:chExt cx="1531964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3196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31964">
                    <a:moveTo>
                      <a:pt x="1531964" y="0"/>
                    </a:moveTo>
                    <a:lnTo>
                      <a:pt x="1531964" y="812800"/>
                    </a:lnTo>
                    <a:lnTo>
                      <a:pt x="0" y="812800"/>
                    </a:lnTo>
                    <a:lnTo>
                      <a:pt x="0" y="0"/>
                    </a:lnTo>
                    <a:close/>
                  </a:path>
                </a:pathLst>
              </a:custGeom>
              <a:ln w="28575" cap="sq">
                <a:solidFill>
                  <a:srgbClr val="FF3131"/>
                </a:solidFill>
                <a:prstDash val="dash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531964" cy="860425"/>
              </a:xfrm>
              <a:prstGeom prst="rect">
                <a:avLst/>
              </a:prstGeom>
            </p:spPr>
            <p:txBody>
              <a:bodyPr anchor="ctr" rtlCol="false" tIns="50631" lIns="50631" bIns="50631" rIns="50631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6892619" cy="6456456"/>
              <a:chOff x="0" y="0"/>
              <a:chExt cx="1047903" cy="98159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7903" cy="981592"/>
              </a:xfrm>
              <a:custGeom>
                <a:avLst/>
                <a:gdLst/>
                <a:ahLst/>
                <a:cxnLst/>
                <a:rect r="r" b="b" t="t" l="l"/>
                <a:pathLst>
                  <a:path h="981592" w="1047903">
                    <a:moveTo>
                      <a:pt x="0" y="0"/>
                    </a:moveTo>
                    <a:lnTo>
                      <a:pt x="1047903" y="0"/>
                    </a:lnTo>
                    <a:lnTo>
                      <a:pt x="1047903" y="981592"/>
                    </a:lnTo>
                    <a:lnTo>
                      <a:pt x="0" y="981592"/>
                    </a:ln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047903" cy="1029217"/>
              </a:xfrm>
              <a:prstGeom prst="rect">
                <a:avLst/>
              </a:prstGeom>
            </p:spPr>
            <p:txBody>
              <a:bodyPr anchor="ctr" rtlCol="false" tIns="59445" lIns="59445" bIns="59445" rIns="59445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99847" y="481962"/>
              <a:ext cx="6513078" cy="3677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89"/>
                </a:lnSpc>
                <a:spcBef>
                  <a:spcPct val="0"/>
                </a:spcBef>
              </a:pPr>
              <a:r>
                <a:rPr lang="en-US" sz="3726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               </a:t>
              </a:r>
              <a:r>
                <a:rPr lang="en-US" sz="3726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Réel</a:t>
              </a:r>
            </a:p>
            <a:p>
              <a:pPr algn="l">
                <a:lnSpc>
                  <a:spcPts val="5589"/>
                </a:lnSpc>
                <a:spcBef>
                  <a:spcPct val="0"/>
                </a:spcBef>
              </a:pPr>
              <a:r>
                <a:rPr lang="en-US" sz="3726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Prédit     0       1</a:t>
              </a:r>
            </a:p>
            <a:p>
              <a:pPr algn="l">
                <a:lnSpc>
                  <a:spcPts val="5589"/>
                </a:lnSpc>
                <a:spcBef>
                  <a:spcPct val="0"/>
                </a:spcBef>
              </a:pPr>
              <a:r>
                <a:rPr lang="en-US" sz="3726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        0    716  133</a:t>
              </a:r>
            </a:p>
            <a:p>
              <a:pPr algn="l">
                <a:lnSpc>
                  <a:spcPts val="5589"/>
                </a:lnSpc>
                <a:spcBef>
                  <a:spcPct val="0"/>
                </a:spcBef>
              </a:pPr>
              <a:r>
                <a:rPr lang="en-US" sz="3726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        1     225 318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4024235" y="3372640"/>
              <a:ext cx="1475782" cy="782992"/>
              <a:chOff x="0" y="0"/>
              <a:chExt cx="1531964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53196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31964">
                    <a:moveTo>
                      <a:pt x="1531964" y="0"/>
                    </a:moveTo>
                    <a:lnTo>
                      <a:pt x="1531964" y="812800"/>
                    </a:lnTo>
                    <a:lnTo>
                      <a:pt x="0" y="812800"/>
                    </a:lnTo>
                    <a:lnTo>
                      <a:pt x="0" y="0"/>
                    </a:lnTo>
                    <a:close/>
                  </a:path>
                </a:pathLst>
              </a:custGeom>
              <a:ln w="28575" cap="sq">
                <a:solidFill>
                  <a:srgbClr val="6AE420"/>
                </a:solidFill>
                <a:prstDash val="dash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531964" cy="860425"/>
              </a:xfrm>
              <a:prstGeom prst="rect">
                <a:avLst/>
              </a:prstGeom>
            </p:spPr>
            <p:txBody>
              <a:bodyPr anchor="ctr" rtlCol="false" tIns="50631" lIns="50631" bIns="50631" rIns="50631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8949861" y="2990157"/>
            <a:ext cx="7837635" cy="4842342"/>
            <a:chOff x="0" y="0"/>
            <a:chExt cx="10450180" cy="645645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207263" y="5810755"/>
              <a:ext cx="4101296" cy="450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6"/>
                </a:lnSpc>
              </a:pPr>
              <a:r>
                <a:rPr lang="en-US" sz="203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Accuracy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131810" y="-57150"/>
              <a:ext cx="3798811" cy="646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15"/>
                </a:lnSpc>
              </a:pPr>
              <a:r>
                <a:rPr lang="en-US" b="true" sz="2939" i="true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Métriques clés</a:t>
              </a:r>
            </a:p>
          </p:txBody>
        </p:sp>
        <p:pic>
          <p:nvPicPr>
            <p:cNvPr name="Picture 25" id="25"/>
            <p:cNvPicPr>
              <a:picLocks noChangeAspect="true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0">
              <a:off x="-1045018" y="-336813"/>
              <a:ext cx="12540216" cy="6783625"/>
            </a:xfrm>
            <a:prstGeom prst="rect">
              <a:avLst/>
            </a:prstGeom>
          </p:spPr>
        </p:pic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0">
              <a:off x="1287907" y="4991413"/>
              <a:ext cx="9363660" cy="2245348"/>
            </a:xfrm>
            <a:prstGeom prst="rect">
              <a:avLst/>
            </a:prstGeom>
          </p:spPr>
        </p:pic>
      </p:grpSp>
      <p:sp>
        <p:nvSpPr>
          <p:cNvPr name="TextBox 27" id="27"/>
          <p:cNvSpPr txBox="true"/>
          <p:nvPr/>
        </p:nvSpPr>
        <p:spPr>
          <a:xfrm rot="0">
            <a:off x="4900424" y="8508773"/>
            <a:ext cx="8487152" cy="41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  <a:spcBef>
                <a:spcPct val="0"/>
              </a:spcBef>
            </a:pPr>
            <a:r>
              <a:rPr lang="en-US" b="true" sz="238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318</a:t>
            </a:r>
            <a:r>
              <a:rPr lang="en-US" b="true" sz="238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 détectés :  -31% faux négatifs par rapport à l’arbre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87754" y="-1563971"/>
            <a:ext cx="11077226" cy="5780298"/>
          </a:xfrm>
          <a:custGeom>
            <a:avLst/>
            <a:gdLst/>
            <a:ahLst/>
            <a:cxnLst/>
            <a:rect r="r" b="b" t="t" l="l"/>
            <a:pathLst>
              <a:path h="5780298" w="11077226">
                <a:moveTo>
                  <a:pt x="0" y="0"/>
                </a:moveTo>
                <a:lnTo>
                  <a:pt x="11077226" y="0"/>
                </a:lnTo>
                <a:lnTo>
                  <a:pt x="11077226" y="5780299"/>
                </a:lnTo>
                <a:lnTo>
                  <a:pt x="0" y="5780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90352" y="7126553"/>
            <a:ext cx="3826348" cy="3826348"/>
          </a:xfrm>
          <a:custGeom>
            <a:avLst/>
            <a:gdLst/>
            <a:ahLst/>
            <a:cxnLst/>
            <a:rect r="r" b="b" t="t" l="l"/>
            <a:pathLst>
              <a:path h="3826348" w="3826348">
                <a:moveTo>
                  <a:pt x="0" y="0"/>
                </a:moveTo>
                <a:lnTo>
                  <a:pt x="3826348" y="0"/>
                </a:lnTo>
                <a:lnTo>
                  <a:pt x="3826348" y="3826348"/>
                </a:lnTo>
                <a:lnTo>
                  <a:pt x="0" y="38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627627" y="6428791"/>
            <a:ext cx="9923277" cy="5178146"/>
          </a:xfrm>
          <a:custGeom>
            <a:avLst/>
            <a:gdLst/>
            <a:ahLst/>
            <a:cxnLst/>
            <a:rect r="r" b="b" t="t" l="l"/>
            <a:pathLst>
              <a:path h="5178146" w="9923277">
                <a:moveTo>
                  <a:pt x="0" y="0"/>
                </a:moveTo>
                <a:lnTo>
                  <a:pt x="9923277" y="0"/>
                </a:lnTo>
                <a:lnTo>
                  <a:pt x="9923277" y="5178147"/>
                </a:lnTo>
                <a:lnTo>
                  <a:pt x="0" y="5178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7576" y="355962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3" y="0"/>
                </a:lnTo>
                <a:lnTo>
                  <a:pt x="2690953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209674" y="4119214"/>
            <a:ext cx="4671439" cy="4375832"/>
            <a:chOff x="0" y="0"/>
            <a:chExt cx="6228585" cy="58344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228585" cy="5834442"/>
              <a:chOff x="0" y="0"/>
              <a:chExt cx="1047903" cy="98159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7903" cy="981592"/>
              </a:xfrm>
              <a:custGeom>
                <a:avLst/>
                <a:gdLst/>
                <a:ahLst/>
                <a:cxnLst/>
                <a:rect r="r" b="b" t="t" l="l"/>
                <a:pathLst>
                  <a:path h="981592" w="1047903">
                    <a:moveTo>
                      <a:pt x="0" y="0"/>
                    </a:moveTo>
                    <a:lnTo>
                      <a:pt x="1047903" y="0"/>
                    </a:lnTo>
                    <a:lnTo>
                      <a:pt x="1047903" y="981592"/>
                    </a:lnTo>
                    <a:lnTo>
                      <a:pt x="0" y="981592"/>
                    </a:lnTo>
                    <a:close/>
                  </a:path>
                </a:pathLst>
              </a:custGeom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047903" cy="10292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31684" y="4440529"/>
              <a:ext cx="5734519" cy="717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40"/>
                </a:lnSpc>
              </a:pPr>
              <a:r>
                <a:rPr lang="en-US" b="true" sz="3243" i="true">
                  <a:solidFill>
                    <a:srgbClr val="0166C2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Matrice de confusion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0594" y="434961"/>
              <a:ext cx="5885610" cy="3323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50"/>
                </a:lnSpc>
                <a:spcBef>
                  <a:spcPct val="0"/>
                </a:spcBef>
              </a:pPr>
              <a:r>
                <a:rPr lang="en-US" sz="3367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               </a:t>
              </a:r>
              <a:r>
                <a:rPr lang="en-US" sz="3367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Réel</a:t>
              </a:r>
            </a:p>
            <a:p>
              <a:pPr algn="l">
                <a:lnSpc>
                  <a:spcPts val="5050"/>
                </a:lnSpc>
                <a:spcBef>
                  <a:spcPct val="0"/>
                </a:spcBef>
              </a:pPr>
              <a:r>
                <a:rPr lang="en-US" sz="3367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Prédit     0       1</a:t>
              </a:r>
            </a:p>
            <a:p>
              <a:pPr algn="l">
                <a:lnSpc>
                  <a:spcPts val="5050"/>
                </a:lnSpc>
                <a:spcBef>
                  <a:spcPct val="0"/>
                </a:spcBef>
              </a:pPr>
              <a:r>
                <a:rPr lang="en-US" sz="3367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        0    691  122</a:t>
              </a:r>
            </a:p>
            <a:p>
              <a:pPr algn="l">
                <a:lnSpc>
                  <a:spcPts val="5050"/>
                </a:lnSpc>
                <a:spcBef>
                  <a:spcPct val="0"/>
                </a:spcBef>
              </a:pPr>
              <a:r>
                <a:rPr lang="en-US" sz="3367">
                  <a:solidFill>
                    <a:srgbClr val="0166C2"/>
                  </a:solidFill>
                  <a:latin typeface="Luktao"/>
                  <a:ea typeface="Luktao"/>
                  <a:cs typeface="Luktao"/>
                  <a:sym typeface="Luktao"/>
                </a:rPr>
                <a:t>        1     250 329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302935" y="2209662"/>
              <a:ext cx="1333606" cy="707559"/>
              <a:chOff x="0" y="0"/>
              <a:chExt cx="1531964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3196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31964">
                    <a:moveTo>
                      <a:pt x="1531964" y="0"/>
                    </a:moveTo>
                    <a:lnTo>
                      <a:pt x="1531964" y="812800"/>
                    </a:lnTo>
                    <a:lnTo>
                      <a:pt x="0" y="812800"/>
                    </a:lnTo>
                    <a:lnTo>
                      <a:pt x="0" y="0"/>
                    </a:lnTo>
                    <a:close/>
                  </a:path>
                </a:pathLst>
              </a:custGeom>
              <a:ln w="28575" cap="sq">
                <a:solidFill>
                  <a:srgbClr val="FF3131"/>
                </a:solidFill>
                <a:prstDash val="dash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531964" cy="850900"/>
              </a:xfrm>
              <a:prstGeom prst="rect">
                <a:avLst/>
              </a:prstGeom>
            </p:spPr>
            <p:txBody>
              <a:bodyPr anchor="ctr" rtlCol="false" tIns="43267" lIns="43267" bIns="43267" rIns="43267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636541" y="3047720"/>
              <a:ext cx="1333606" cy="707559"/>
              <a:chOff x="0" y="0"/>
              <a:chExt cx="1531964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3196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531964">
                    <a:moveTo>
                      <a:pt x="1531964" y="0"/>
                    </a:moveTo>
                    <a:lnTo>
                      <a:pt x="1531964" y="812800"/>
                    </a:lnTo>
                    <a:lnTo>
                      <a:pt x="0" y="812800"/>
                    </a:lnTo>
                    <a:lnTo>
                      <a:pt x="0" y="0"/>
                    </a:lnTo>
                    <a:close/>
                  </a:path>
                </a:pathLst>
              </a:custGeom>
              <a:ln w="28575" cap="sq">
                <a:solidFill>
                  <a:srgbClr val="6AE420"/>
                </a:solidFill>
                <a:prstDash val="dash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531964" cy="850900"/>
              </a:xfrm>
              <a:prstGeom prst="rect">
                <a:avLst/>
              </a:prstGeom>
            </p:spPr>
            <p:txBody>
              <a:bodyPr anchor="ctr" rtlCol="false" tIns="43267" lIns="43267" bIns="43267" rIns="43267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2209674" y="3140079"/>
            <a:ext cx="8182222" cy="53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true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Objectif </a:t>
            </a: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 maximiser la détection des obèses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7506" y="4014439"/>
            <a:ext cx="4260889" cy="67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  <a:spcBef>
                <a:spcPct val="0"/>
              </a:spcBef>
            </a:pPr>
            <a:r>
              <a:rPr lang="en-US" b="true" sz="375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Obèses détectés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30717" y="6202355"/>
            <a:ext cx="5254540" cy="67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5"/>
              </a:lnSpc>
              <a:spcBef>
                <a:spcPct val="0"/>
              </a:spcBef>
            </a:pPr>
            <a:r>
              <a:rPr lang="en-US" b="true" sz="375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Non obèses détectés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6881113" y="5158740"/>
            <a:ext cx="1946392" cy="1148390"/>
          </a:xfrm>
          <a:prstGeom prst="line">
            <a:avLst/>
          </a:prstGeom>
          <a:ln cap="flat" w="38100">
            <a:solidFill>
              <a:srgbClr val="6AE420"/>
            </a:solidFill>
            <a:prstDash val="lgDash"/>
            <a:headEnd type="oval" len="lg" w="lg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6881113" y="6592877"/>
            <a:ext cx="1866687" cy="635654"/>
          </a:xfrm>
          <a:prstGeom prst="line">
            <a:avLst/>
          </a:prstGeom>
          <a:ln cap="flat" w="38100">
            <a:solidFill>
              <a:srgbClr val="FF3131"/>
            </a:solidFill>
            <a:prstDash val="lgDash"/>
            <a:headEnd type="oval" len="lg" w="lg"/>
            <a:tailEnd type="oval" len="lg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8827506" y="4863469"/>
            <a:ext cx="6598862" cy="50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329/451</a:t>
            </a:r>
            <a:r>
              <a:rPr lang="en-US" sz="27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obèses correctement détectés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27506" y="7040828"/>
            <a:ext cx="7160369" cy="50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5"/>
              </a:lnSpc>
              <a:spcBef>
                <a:spcPct val="0"/>
              </a:spcBef>
            </a:pPr>
            <a:r>
              <a:rPr lang="en-US" b="true" sz="2750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691/941</a:t>
            </a:r>
            <a:r>
              <a:rPr lang="en-US" sz="275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non obèses correctement détectés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973352" y="784279"/>
            <a:ext cx="9987683" cy="1643102"/>
            <a:chOff x="0" y="0"/>
            <a:chExt cx="13316910" cy="2190802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306894" y="1397722"/>
              <a:ext cx="3400387" cy="793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15"/>
                </a:lnSpc>
              </a:pPr>
              <a:r>
                <a:rPr lang="en-US" b="true" sz="3582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XGBOOST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104775"/>
              <a:ext cx="13316910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b="true" sz="5600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LES MODÈLES PRÉDICTIVES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1894" y="-1102689"/>
            <a:ext cx="9812463" cy="5120322"/>
          </a:xfrm>
          <a:custGeom>
            <a:avLst/>
            <a:gdLst/>
            <a:ahLst/>
            <a:cxnLst/>
            <a:rect r="r" b="b" t="t" l="l"/>
            <a:pathLst>
              <a:path h="5120322" w="9812463">
                <a:moveTo>
                  <a:pt x="0" y="0"/>
                </a:moveTo>
                <a:lnTo>
                  <a:pt x="9812463" y="0"/>
                </a:lnTo>
                <a:lnTo>
                  <a:pt x="9812463" y="5120321"/>
                </a:lnTo>
                <a:lnTo>
                  <a:pt x="0" y="5120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62019" y="7698221"/>
            <a:ext cx="3254681" cy="3254681"/>
          </a:xfrm>
          <a:custGeom>
            <a:avLst/>
            <a:gdLst/>
            <a:ahLst/>
            <a:cxnLst/>
            <a:rect r="r" b="b" t="t" l="l"/>
            <a:pathLst>
              <a:path h="3254681" w="3254681">
                <a:moveTo>
                  <a:pt x="0" y="0"/>
                </a:moveTo>
                <a:lnTo>
                  <a:pt x="3254681" y="0"/>
                </a:lnTo>
                <a:lnTo>
                  <a:pt x="3254681" y="3254680"/>
                </a:lnTo>
                <a:lnTo>
                  <a:pt x="0" y="3254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627627" y="6428791"/>
            <a:ext cx="9923277" cy="5178146"/>
          </a:xfrm>
          <a:custGeom>
            <a:avLst/>
            <a:gdLst/>
            <a:ahLst/>
            <a:cxnLst/>
            <a:rect r="r" b="b" t="t" l="l"/>
            <a:pathLst>
              <a:path h="5178146" w="9923277">
                <a:moveTo>
                  <a:pt x="0" y="0"/>
                </a:moveTo>
                <a:lnTo>
                  <a:pt x="9923277" y="0"/>
                </a:lnTo>
                <a:lnTo>
                  <a:pt x="9923277" y="5178147"/>
                </a:lnTo>
                <a:lnTo>
                  <a:pt x="0" y="5178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7576" y="355962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3" y="0"/>
                </a:lnTo>
                <a:lnTo>
                  <a:pt x="2690953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25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384643" y="7105425"/>
            <a:ext cx="5092149" cy="2152875"/>
            <a:chOff x="0" y="0"/>
            <a:chExt cx="1171959" cy="4954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1959" cy="495484"/>
            </a:xfrm>
            <a:custGeom>
              <a:avLst/>
              <a:gdLst/>
              <a:ahLst/>
              <a:cxnLst/>
              <a:rect r="r" b="b" t="t" l="l"/>
              <a:pathLst>
                <a:path h="495484" w="1171959">
                  <a:moveTo>
                    <a:pt x="0" y="0"/>
                  </a:moveTo>
                  <a:lnTo>
                    <a:pt x="1171959" y="0"/>
                  </a:lnTo>
                  <a:lnTo>
                    <a:pt x="1171959" y="495484"/>
                  </a:lnTo>
                  <a:lnTo>
                    <a:pt x="0" y="495484"/>
                  </a:lnTo>
                  <a:close/>
                </a:path>
              </a:pathLst>
            </a:custGeom>
            <a:solidFill>
              <a:srgbClr val="CFE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71959" cy="543109"/>
            </a:xfrm>
            <a:prstGeom prst="rect">
              <a:avLst/>
            </a:prstGeom>
          </p:spPr>
          <p:txBody>
            <a:bodyPr anchor="ctr" rtlCol="false" tIns="48234" lIns="48234" bIns="48234" rIns="48234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7/10 obèses détectés 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Résultat significatif pour un outil de dépistage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91928" y="3861252"/>
            <a:ext cx="3862185" cy="53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5"/>
              </a:lnSpc>
            </a:pPr>
            <a:r>
              <a:rPr lang="en-US" b="true" sz="3160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Sensibilité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1699" y="3002414"/>
            <a:ext cx="3204474" cy="4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b="true" sz="2622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Spécificité</a:t>
            </a:r>
            <a:r>
              <a:rPr lang="en-US" b="true" sz="2622" i="true">
                <a:solidFill>
                  <a:srgbClr val="0166C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50930" y="3002414"/>
            <a:ext cx="3204474" cy="43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1"/>
              </a:lnSpc>
            </a:pPr>
            <a:r>
              <a:rPr lang="en-US" b="true" sz="2622" i="true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Accuracy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742642" y="4262991"/>
            <a:ext cx="4376152" cy="2552755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5525" y="3328043"/>
            <a:ext cx="3630913" cy="2118033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37710" y="3328043"/>
            <a:ext cx="3630913" cy="2118033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028700" y="5785542"/>
            <a:ext cx="4224980" cy="1542166"/>
            <a:chOff x="0" y="0"/>
            <a:chExt cx="1171959" cy="4277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1959" cy="427778"/>
            </a:xfrm>
            <a:custGeom>
              <a:avLst/>
              <a:gdLst/>
              <a:ahLst/>
              <a:cxnLst/>
              <a:rect r="r" b="b" t="t" l="l"/>
              <a:pathLst>
                <a:path h="427778" w="1171959">
                  <a:moveTo>
                    <a:pt x="0" y="0"/>
                  </a:moveTo>
                  <a:lnTo>
                    <a:pt x="1171959" y="0"/>
                  </a:lnTo>
                  <a:lnTo>
                    <a:pt x="1171959" y="427778"/>
                  </a:lnTo>
                  <a:lnTo>
                    <a:pt x="0" y="427778"/>
                  </a:lnTo>
                  <a:close/>
                </a:path>
              </a:pathLst>
            </a:custGeom>
            <a:solidFill>
              <a:srgbClr val="CFE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71959" cy="475403"/>
            </a:xfrm>
            <a:prstGeom prst="rect">
              <a:avLst/>
            </a:prstGeom>
          </p:spPr>
          <p:txBody>
            <a:bodyPr anchor="ctr" rtlCol="false" tIns="48234" lIns="48234" bIns="48234" rIns="48234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34320" y="5785542"/>
            <a:ext cx="4224980" cy="1542166"/>
            <a:chOff x="0" y="0"/>
            <a:chExt cx="1171959" cy="4277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1959" cy="427778"/>
            </a:xfrm>
            <a:custGeom>
              <a:avLst/>
              <a:gdLst/>
              <a:ahLst/>
              <a:cxnLst/>
              <a:rect r="r" b="b" t="t" l="l"/>
              <a:pathLst>
                <a:path h="427778" w="1171959">
                  <a:moveTo>
                    <a:pt x="0" y="0"/>
                  </a:moveTo>
                  <a:lnTo>
                    <a:pt x="1171959" y="0"/>
                  </a:lnTo>
                  <a:lnTo>
                    <a:pt x="1171959" y="427778"/>
                  </a:lnTo>
                  <a:lnTo>
                    <a:pt x="0" y="427778"/>
                  </a:lnTo>
                  <a:close/>
                </a:path>
              </a:pathLst>
            </a:custGeom>
            <a:solidFill>
              <a:srgbClr val="CFED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71959" cy="475403"/>
            </a:xfrm>
            <a:prstGeom prst="rect">
              <a:avLst/>
            </a:prstGeom>
          </p:spPr>
          <p:txBody>
            <a:bodyPr anchor="ctr" rtlCol="false" tIns="48234" lIns="48234" bIns="48234" rIns="48234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483376" y="6277859"/>
            <a:ext cx="353958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P</a:t>
            </a: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erformance globale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6857" y="6030209"/>
            <a:ext cx="406866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Bonne identification des non-obèses 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820952" y="631879"/>
            <a:ext cx="9987683" cy="1757435"/>
            <a:chOff x="0" y="0"/>
            <a:chExt cx="13316910" cy="234324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276405" y="1550166"/>
              <a:ext cx="8674973" cy="793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15"/>
                </a:lnSpc>
              </a:pPr>
              <a:r>
                <a:rPr lang="en-US" b="true" sz="3582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XGBOOST : MÉTRIQUES CLÉS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104775"/>
              <a:ext cx="13316910" cy="1235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40"/>
                </a:lnSpc>
              </a:pPr>
              <a:r>
                <a:rPr lang="en-US" b="true" sz="5600">
                  <a:solidFill>
                    <a:srgbClr val="0166C2"/>
                  </a:solidFill>
                  <a:latin typeface="Luktao Bold"/>
                  <a:ea typeface="Luktao Bold"/>
                  <a:cs typeface="Luktao Bold"/>
                  <a:sym typeface="Luktao Bold"/>
                </a:rPr>
                <a:t>LES MODÈLES PRÉDICTIVES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744490" y="3086100"/>
          <a:ext cx="10393351" cy="6428526"/>
        </p:xfrm>
        <a:graphic>
          <a:graphicData uri="http://schemas.openxmlformats.org/drawingml/2006/table">
            <a:tbl>
              <a:tblPr/>
              <a:tblGrid>
                <a:gridCol w="2598338"/>
                <a:gridCol w="2598338"/>
                <a:gridCol w="2598338"/>
                <a:gridCol w="2598338"/>
              </a:tblGrid>
              <a:tr h="11977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Métriques Clés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Forêt aléatoire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Arbre de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2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Sensibilité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70.5%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72.9%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57.2%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2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Spécificité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76.1%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73.4%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85.3%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2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1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AUC-ROC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0.777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5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AUC-PRC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COMPARATIVE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MODÈLES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2201124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1900" y="68381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514975" y="6838101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3744490" y="3086100"/>
          <a:ext cx="10393351" cy="4150861"/>
        </p:xfrm>
        <a:graphic>
          <a:graphicData uri="http://schemas.openxmlformats.org/drawingml/2006/table">
            <a:tbl>
              <a:tblPr/>
              <a:tblGrid>
                <a:gridCol w="3464450"/>
                <a:gridCol w="3464450"/>
                <a:gridCol w="3464450"/>
              </a:tblGrid>
              <a:tr h="1028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Métriques Clés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Forêt aléatoire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XGBoost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Temps d’entraînement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2.99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2.01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Taille du modèle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 MB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 0.1 MB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50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Temps de prédiction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1.24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313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1.04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4150159" y="545236"/>
            <a:ext cx="998768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ANALYSE COMPARATIVE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5650" y="2186726"/>
            <a:ext cx="803031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LES CRITÈRES OPÉRATIONNELS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Quarter Circle Shape"/>
          <p:cNvSpPr/>
          <p:nvPr/>
        </p:nvSpPr>
        <p:spPr>
          <a:xfrm flipH="true" flipV="true" rot="0">
            <a:off x="-819150" y="-16058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Modern Geo Semicircle Line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Quarter Arc"/>
          <p:cNvSpPr/>
          <p:nvPr/>
        </p:nvSpPr>
        <p:spPr>
          <a:xfrm flipH="false" flipV="false" rot="0">
            <a:off x="514350" y="2459043"/>
            <a:ext cx="5368914" cy="5368914"/>
          </a:xfrm>
          <a:custGeom>
            <a:avLst/>
            <a:gdLst/>
            <a:ahLst/>
            <a:cxnLst/>
            <a:rect r="r" b="b" t="t" l="l"/>
            <a:pathLst>
              <a:path h="5368914" w="5368914">
                <a:moveTo>
                  <a:pt x="0" y="0"/>
                </a:moveTo>
                <a:lnTo>
                  <a:pt x="5368914" y="0"/>
                </a:lnTo>
                <a:lnTo>
                  <a:pt x="5368914" y="5368914"/>
                </a:lnTo>
                <a:lnTo>
                  <a:pt x="0" y="5368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39458" y="7121967"/>
            <a:ext cx="8526274" cy="1960219"/>
            <a:chOff x="0" y="0"/>
            <a:chExt cx="11368366" cy="261362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950628"/>
              <a:ext cx="11368366" cy="662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9"/>
                </a:lnSpc>
                <a:spcBef>
                  <a:spcPct val="0"/>
                </a:spcBef>
              </a:pPr>
              <a:r>
                <a:rPr lang="en-US" b="true" sz="2886">
                  <a:solidFill>
                    <a:srgbClr val="0166C2"/>
                  </a:solidFill>
                  <a:latin typeface="Nourd Bold"/>
                  <a:ea typeface="Nourd Bold"/>
                  <a:cs typeface="Nourd Bold"/>
                  <a:sym typeface="Nourd Bold"/>
                </a:rPr>
                <a:t>Pe</a:t>
              </a:r>
              <a:r>
                <a:rPr lang="en-US" b="true" sz="2886">
                  <a:solidFill>
                    <a:srgbClr val="0166C2"/>
                  </a:solidFill>
                  <a:latin typeface="Nourd Bold"/>
                  <a:ea typeface="Nourd Bold"/>
                  <a:cs typeface="Nourd Bold"/>
                  <a:sym typeface="Nourd Bold"/>
                </a:rPr>
                <a:t>rspectives</a:t>
              </a:r>
              <a:r>
                <a:rPr lang="en-US" sz="2886">
                  <a:solidFill>
                    <a:srgbClr val="0166C2"/>
                  </a:solidFill>
                  <a:latin typeface="Nourd"/>
                  <a:ea typeface="Nourd"/>
                  <a:cs typeface="Nourd"/>
                  <a:sym typeface="Nourd"/>
                </a:rPr>
                <a:t> : Enrichissement + Application web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1170354" cy="723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10"/>
                </a:lnSpc>
                <a:spcBef>
                  <a:spcPct val="0"/>
                </a:spcBef>
              </a:pPr>
              <a:r>
                <a:rPr lang="en-US" b="true" sz="3207">
                  <a:solidFill>
                    <a:srgbClr val="0166C2"/>
                  </a:solidFill>
                  <a:latin typeface="Nourd Bold"/>
                  <a:ea typeface="Nourd Bold"/>
                  <a:cs typeface="Nourd Bold"/>
                  <a:sym typeface="Nourd Bold"/>
                </a:rPr>
                <a:t>Limite</a:t>
              </a:r>
              <a:r>
                <a:rPr lang="en-US" sz="3207">
                  <a:solidFill>
                    <a:srgbClr val="0166C2"/>
                  </a:solidFill>
                  <a:latin typeface="Nourd"/>
                  <a:ea typeface="Nourd"/>
                  <a:cs typeface="Nourd"/>
                  <a:sym typeface="Nourd"/>
                </a:rPr>
                <a:t> </a:t>
              </a:r>
              <a:r>
                <a:rPr lang="en-US" sz="3207">
                  <a:solidFill>
                    <a:srgbClr val="0166C2"/>
                  </a:solidFill>
                  <a:latin typeface="Nourd"/>
                  <a:ea typeface="Nourd"/>
                  <a:cs typeface="Nourd"/>
                  <a:sym typeface="Nourd"/>
                </a:rPr>
                <a:t>: déséquilibre données (31% obèses)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39458" y="3032694"/>
            <a:ext cx="6950401" cy="3481750"/>
            <a:chOff x="0" y="0"/>
            <a:chExt cx="9267201" cy="46423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741685"/>
              <a:ext cx="9267201" cy="1900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53"/>
                </a:lnSpc>
                <a:spcBef>
                  <a:spcPct val="0"/>
                </a:spcBef>
              </a:pPr>
              <a:r>
                <a:rPr lang="en-US" b="true" sz="2835">
                  <a:solidFill>
                    <a:srgbClr val="0166C2"/>
                  </a:solidFill>
                  <a:latin typeface="Nourd Bold"/>
                  <a:ea typeface="Nourd Bold"/>
                  <a:cs typeface="Nourd Bold"/>
                  <a:sym typeface="Nourd Bold"/>
                </a:rPr>
                <a:t>Variable clé</a:t>
              </a:r>
              <a:r>
                <a:rPr lang="en-US" sz="2835">
                  <a:solidFill>
                    <a:srgbClr val="0166C2"/>
                  </a:solidFill>
                  <a:latin typeface="Nourd"/>
                  <a:ea typeface="Nourd"/>
                  <a:cs typeface="Nourd"/>
                  <a:sym typeface="Nourd"/>
                </a:rPr>
                <a:t> </a:t>
              </a:r>
              <a:r>
                <a:rPr lang="en-US" sz="2835">
                  <a:solidFill>
                    <a:srgbClr val="0166C2"/>
                  </a:solidFill>
                  <a:latin typeface="Nourd"/>
                  <a:ea typeface="Nourd"/>
                  <a:cs typeface="Nourd"/>
                  <a:sym typeface="Nourd"/>
                </a:rPr>
                <a:t>: Conseil en exercice </a:t>
              </a:r>
            </a:p>
            <a:p>
              <a:pPr algn="l" marL="0" indent="0" lvl="0">
                <a:lnSpc>
                  <a:spcPts val="3953"/>
                </a:lnSpc>
                <a:spcBef>
                  <a:spcPct val="0"/>
                </a:spcBef>
              </a:pPr>
              <a:r>
                <a:rPr lang="en-US" sz="2635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Levier pour les campagnes de prévention</a:t>
              </a:r>
            </a:p>
            <a:p>
              <a:pPr algn="l" marL="0" indent="0" lvl="0">
                <a:lnSpc>
                  <a:spcPts val="3503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0"/>
              <a:ext cx="8717874" cy="2333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1"/>
                </a:lnSpc>
                <a:spcBef>
                  <a:spcPct val="0"/>
                </a:spcBef>
              </a:pPr>
              <a:r>
                <a:rPr lang="en-US" b="true" sz="3194">
                  <a:solidFill>
                    <a:srgbClr val="0166C2"/>
                  </a:solidFill>
                  <a:latin typeface="Nourd Bold"/>
                  <a:ea typeface="Nourd Bold"/>
                  <a:cs typeface="Nourd Bold"/>
                  <a:sym typeface="Nourd Bold"/>
                </a:rPr>
                <a:t>XGBoost</a:t>
              </a:r>
              <a:r>
                <a:rPr lang="en-US" sz="3194">
                  <a:solidFill>
                    <a:srgbClr val="0166C2"/>
                  </a:solidFill>
                  <a:latin typeface="Nourd"/>
                  <a:ea typeface="Nourd"/>
                  <a:cs typeface="Nourd"/>
                  <a:sym typeface="Nourd"/>
                </a:rPr>
                <a:t> : 7/10 obèses détectés </a:t>
              </a:r>
            </a:p>
            <a:p>
              <a:pPr algn="l" marL="0" indent="0" lvl="0">
                <a:lnSpc>
                  <a:spcPts val="4791"/>
                </a:lnSpc>
                <a:spcBef>
                  <a:spcPct val="0"/>
                </a:spcBef>
              </a:pPr>
              <a:r>
                <a:rPr lang="en-US" sz="3194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Outil de dépistage prometteur</a:t>
              </a:r>
            </a:p>
            <a:p>
              <a:pPr algn="l" marL="0" indent="0" lvl="0">
                <a:lnSpc>
                  <a:spcPts val="4791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444210" y="1028700"/>
            <a:ext cx="831677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204440" cy="441826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698"/>
              </a:lnSpc>
              <a:spcBef>
                <a:spcPct val="0"/>
              </a:spcBef>
            </a:pPr>
            <a:r>
              <a:rPr lang="en-US" sz="2641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28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432884" y="3032694"/>
            <a:ext cx="663667" cy="663667"/>
          </a:xfrm>
          <a:custGeom>
            <a:avLst/>
            <a:gdLst/>
            <a:ahLst/>
            <a:cxnLst/>
            <a:rect r="r" b="b" t="t" l="l"/>
            <a:pathLst>
              <a:path h="663667" w="663667">
                <a:moveTo>
                  <a:pt x="0" y="0"/>
                </a:moveTo>
                <a:lnTo>
                  <a:pt x="663667" y="0"/>
                </a:lnTo>
                <a:lnTo>
                  <a:pt x="663667" y="663667"/>
                </a:lnTo>
                <a:lnTo>
                  <a:pt x="0" y="66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32884" y="5143500"/>
            <a:ext cx="663667" cy="663667"/>
          </a:xfrm>
          <a:custGeom>
            <a:avLst/>
            <a:gdLst/>
            <a:ahLst/>
            <a:cxnLst/>
            <a:rect r="r" b="b" t="t" l="l"/>
            <a:pathLst>
              <a:path h="663667" w="663667">
                <a:moveTo>
                  <a:pt x="0" y="0"/>
                </a:moveTo>
                <a:lnTo>
                  <a:pt x="663667" y="0"/>
                </a:lnTo>
                <a:lnTo>
                  <a:pt x="663667" y="663667"/>
                </a:lnTo>
                <a:lnTo>
                  <a:pt x="0" y="66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32884" y="7121967"/>
            <a:ext cx="663667" cy="663667"/>
          </a:xfrm>
          <a:custGeom>
            <a:avLst/>
            <a:gdLst/>
            <a:ahLst/>
            <a:cxnLst/>
            <a:rect r="r" b="b" t="t" l="l"/>
            <a:pathLst>
              <a:path h="663667" w="663667">
                <a:moveTo>
                  <a:pt x="0" y="0"/>
                </a:moveTo>
                <a:lnTo>
                  <a:pt x="663667" y="0"/>
                </a:lnTo>
                <a:lnTo>
                  <a:pt x="663667" y="663667"/>
                </a:lnTo>
                <a:lnTo>
                  <a:pt x="0" y="66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32884" y="8594633"/>
            <a:ext cx="663667" cy="663667"/>
          </a:xfrm>
          <a:custGeom>
            <a:avLst/>
            <a:gdLst/>
            <a:ahLst/>
            <a:cxnLst/>
            <a:rect r="r" b="b" t="t" l="l"/>
            <a:pathLst>
              <a:path h="663667" w="663667">
                <a:moveTo>
                  <a:pt x="0" y="0"/>
                </a:moveTo>
                <a:lnTo>
                  <a:pt x="663667" y="0"/>
                </a:lnTo>
                <a:lnTo>
                  <a:pt x="663667" y="663667"/>
                </a:lnTo>
                <a:lnTo>
                  <a:pt x="0" y="663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DAHAv1wbhwU</dc:identifier>
  <dcterms:modified xsi:type="dcterms:W3CDTF">2011-08-01T06:04:30Z</dcterms:modified>
  <cp:revision>1</cp:revision>
  <dc:title>Presentation</dc:title>
</cp:coreProperties>
</file>